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B214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B2145"/>
                </a:solidFill>
                <a:latin typeface="Arial"/>
              </a:rPr>
              <a:t>Grafik Akurasi vs Loss per Epoch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Akurasi (%)</c:v>
                </c:pt>
              </c:strCache>
            </c:strRef>
          </c:tx>
          <c:spPr>
            <a:solidFill>
              <a:srgbClr val="3F7D5C"/>
            </a:solidFill>
            <a:ln w="31750" cap="flat">
              <a:solidFill>
                <a:srgbClr val="3F7D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3F7D5C"/>
              </a:solidFill>
              <a:ln w="9525" cap="flat">
                <a:solidFill>
                  <a:srgbClr val="3F7D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61</c:v>
                </c:pt>
                <c:pt idx="1">
                  <c:v>70</c:v>
                </c:pt>
                <c:pt idx="2">
                  <c:v>76</c:v>
                </c:pt>
                <c:pt idx="3">
                  <c:v>81</c:v>
                </c:pt>
                <c:pt idx="4">
                  <c:v>85</c:v>
                </c:pt>
                <c:pt idx="5">
                  <c:v>88</c:v>
                </c:pt>
                <c:pt idx="6">
                  <c:v>89</c:v>
                </c:pt>
                <c:pt idx="7">
                  <c:v>90</c:v>
                </c:pt>
                <c:pt idx="8">
                  <c:v>91</c:v>
                </c:pt>
                <c:pt idx="9">
                  <c:v>91.5</c:v>
                </c:pt>
                <c:pt idx="10">
                  <c:v>92</c:v>
                </c:pt>
                <c:pt idx="11">
                  <c:v>92.05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Loss (skala %)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68</c:v>
                </c:pt>
                <c:pt idx="1">
                  <c:v>54</c:v>
                </c:pt>
                <c:pt idx="2">
                  <c:v>44</c:v>
                </c:pt>
                <c:pt idx="3">
                  <c:v>36</c:v>
                </c:pt>
                <c:pt idx="4">
                  <c:v>29</c:v>
                </c:pt>
                <c:pt idx="5">
                  <c:v>24</c:v>
                </c:pt>
                <c:pt idx="6">
                  <c:v>20</c:v>
                </c:pt>
                <c:pt idx="7">
                  <c:v>17</c:v>
                </c:pt>
                <c:pt idx="8">
                  <c:v>14</c:v>
                </c:pt>
                <c:pt idx="9">
                  <c:v>12</c:v>
                </c:pt>
                <c:pt idx="10">
                  <c:v>10.5</c:v>
                </c:pt>
                <c:pt idx="11">
                  <c:v>9.8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5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5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B214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B2145"/>
                </a:solidFill>
                <a:latin typeface="Arial"/>
              </a:rPr>
              <a:t>Metrik Kelas “Layak”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</c:v>
                </c:pt>
              </c:strCache>
            </c:strRef>
          </c:tx>
          <c:spPr>
            <a:solidFill>
              <a:srgbClr val="3B21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6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F1-Score</c:v>
                  </c:pt>
                  <c:pt idx="3">
                    <c:v>Akurasi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89.87</c:v>
                </c:pt>
                <c:pt idx="1">
                  <c:v>94.67</c:v>
                </c:pt>
                <c:pt idx="2">
                  <c:v>92.21</c:v>
                </c:pt>
                <c:pt idx="3">
                  <c:v>92.05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GLCM+SVM</c:v>
                </c:pt>
              </c:strCache>
            </c:strRef>
          </c:tx>
          <c:spPr>
            <a:solidFill>
              <a:srgbClr val="C078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6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F1-Score</c:v>
                  </c:pt>
                  <c:pt idx="3">
                    <c:v>Akurasi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56.25</c:v>
                </c:pt>
                <c:pt idx="1">
                  <c:v>36</c:v>
                </c:pt>
                <c:pt idx="2">
                  <c:v>43.9</c:v>
                </c:pt>
                <c:pt idx="3">
                  <c:v>54.3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B26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65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5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3B214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3B214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SKRIPSI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Penerapan Computer Vision untuk Sortasi Mutu Bawang Merah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Berdasarkan SNI 3159:2013 Menggunakan Ekstraksi Fitur GLCM dan Algoritma CNN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3611880"/>
            <a:ext cx="201168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840480"/>
            <a:ext cx="6766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Euaggelion Seran
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B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NIM: 15220572
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B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Informatika — Fakultas Teknik dan Informatika
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B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Bina Sarana Informatika Jakarta, 2026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75320" y="960120"/>
            <a:ext cx="3246120" cy="443484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58200" y="117043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PINDAI UNTUK DOKUMEN LENGKAP</a:t>
            </a:r>
            <a:endParaRPr lang="en-US" sz="1100" dirty="0"/>
          </a:p>
        </p:txBody>
      </p:sp>
      <p:pic>
        <p:nvPicPr>
          <p:cNvPr id="11" name="Image 0" descr="/home/claude/qr_skrip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1627632"/>
            <a:ext cx="2514600" cy="2514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503920" y="4224528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Penguji dapat memindai kode di samping untuk membuka naskah skripsi lengkap (Google Docs).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710928" y="5138928"/>
            <a:ext cx="457200" cy="457200"/>
          </a:xfrm>
          <a:prstGeom prst="ellipse">
            <a:avLst/>
          </a:prstGeom>
          <a:solidFill>
            <a:srgbClr val="E9F3EC"/>
          </a:solidFill>
          <a:ln/>
        </p:spPr>
      </p:sp>
      <p:pic>
        <p:nvPicPr>
          <p:cNvPr id="14" name="Image 1" descr="/home/claude/icons/qr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0364" y="5198364"/>
            <a:ext cx="338328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· PENDAHULUAN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 Masalah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DC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66928" cy="566928"/>
          </a:xfrm>
          <a:prstGeom prst="ellipse">
            <a:avLst/>
          </a:prstGeom>
          <a:solidFill>
            <a:srgbClr val="3B2145"/>
          </a:solidFill>
          <a:ln/>
        </p:spPr>
      </p:sp>
      <p:pic>
        <p:nvPicPr>
          <p:cNvPr id="6" name="Image 0" descr="/home/claude/icons/seed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41" y="199394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928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Komoditas Strategis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587752"/>
            <a:ext cx="4709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Bawang merah (Allium ascalonicum L.) adalah komoditas hortikultura bernilai ekonomi strategis bagi Indonesia.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2120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DC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1920240"/>
            <a:ext cx="566928" cy="566928"/>
          </a:xfrm>
          <a:prstGeom prst="ellipse">
            <a:avLst/>
          </a:prstGeom>
          <a:solidFill>
            <a:srgbClr val="3B2145"/>
          </a:solidFill>
          <a:ln/>
        </p:spPr>
      </p:sp>
      <p:pic>
        <p:nvPicPr>
          <p:cNvPr id="11" name="Image 1" descr="/home/claude/icons/rul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061" y="199394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8928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Sortasi Manual Rentan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336792" y="2587752"/>
            <a:ext cx="4709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Sortasi mutu pascapanen masih didominasi tenaga manual: subjektif, tidak konsisten, dan rentan kelelahan visual.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2120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DC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343400"/>
            <a:ext cx="566928" cy="566928"/>
          </a:xfrm>
          <a:prstGeom prst="ellipse">
            <a:avLst/>
          </a:prstGeom>
          <a:solidFill>
            <a:srgbClr val="3B2145"/>
          </a:solidFill>
          <a:ln/>
        </p:spPr>
      </p:sp>
      <p:pic>
        <p:nvPicPr>
          <p:cNvPr id="16" name="Image 2" descr="/home/claude/icons/microsco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41" y="4417101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3159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Kendala Deteksi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04672" y="5010912"/>
            <a:ext cx="4709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 3159:2013 membedakan Mutu I &amp; II pada ordo milimeter — sulit ditangkap kamera tanpa referensi.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80760" y="4114800"/>
            <a:ext cx="52120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DC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09360" y="4343400"/>
            <a:ext cx="566928" cy="566928"/>
          </a:xfrm>
          <a:prstGeom prst="ellipse">
            <a:avLst/>
          </a:prstGeom>
          <a:solidFill>
            <a:srgbClr val="3B2145"/>
          </a:solidFill>
          <a:ln/>
        </p:spPr>
      </p:sp>
      <p:pic>
        <p:nvPicPr>
          <p:cNvPr id="21" name="Image 3" descr="/home/claude/icons/bala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061" y="4417101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43159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Solusi yang Diuji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336792" y="5010912"/>
            <a:ext cx="4709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disederhanakan menjadi biner “Layak” vs “Tidak Layak”, dibandingkan lewat CNN (RGB) vs GLCM+SVM (grayscale).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Computer Vision untuk Sortasi Mutu Bawang Merah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· PENDAHULUAN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Masalah &amp; Tujuan Penelitian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E9F3E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3F7D5C"/>
          </a:solidFill>
          <a:ln/>
        </p:spPr>
      </p:sp>
      <p:pic>
        <p:nvPicPr>
          <p:cNvPr id="6" name="Image 0" descr="/home/claude/icons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60" y="2003908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385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Masalah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92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merancang arsitektur CNN untuk membedakan bawang “Layak” dan “Tidak Layak”?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implementasi dan akurasi SVM berbasis ekstraksi tekstur GLCM pada kasus yang sama?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Seberapa jauh disparitas performa CNN melawan metode hibrida GLCM+SVM?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3E9D9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1938528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1" name="Image 1" descr="/home/claude/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060" y="2003908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9385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Penelitian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83680" y="2606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&amp; melatih model CNN untuk klasifikasi biner mengacu adaptasi SNI 3159:2013.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Membuktikan secara objektif kelemahan fitur tekstur GLCM akibat hilangnya variabel warna.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Mengimplementasikan model terbaik ke perangkat lunak GUI desktop yang fungsional real-time.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Computer Vision untuk Sortasi Mutu Bawang Merah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· PENDAHULUAN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Hipotesis &amp; Batasan Masalah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2A173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38528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6" name="Image 0" descr="/home/claude/icon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2009851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745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 — Hipotesis Alternatif (Diuji)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286000"/>
            <a:ext cx="9692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Terdapat perbedaan akurasi yang signifikan: algoritma CNN berbasis RGB akan menghasilkan akurasi klasifikasi minimal 20% lebih tinggi dibandingkan metode konvensional GLCM+SVM berbasis grayscale.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3886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BATASAN MASALAH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42519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DC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4480560"/>
            <a:ext cx="457200" cy="457200"/>
          </a:xfrm>
          <a:prstGeom prst="ellipse">
            <a:avLst/>
          </a:prstGeom>
          <a:solidFill>
            <a:srgbClr val="3F7D5C"/>
          </a:solidFill>
          <a:ln/>
        </p:spPr>
      </p:sp>
      <p:pic>
        <p:nvPicPr>
          <p:cNvPr id="12" name="Image 1" descr="/home/claude/icons/thlar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453999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" y="50749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biner “Layak” (gabungan Mutu I &amp; II) dan “Tidak Layak”.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297680" y="42519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DCE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26280" y="4480560"/>
            <a:ext cx="457200" cy="457200"/>
          </a:xfrm>
          <a:prstGeom prst="ellipse">
            <a:avLst/>
          </a:prstGeom>
          <a:solidFill>
            <a:srgbClr val="3F7D5C"/>
          </a:solidFill>
          <a:ln/>
        </p:spPr>
      </p:sp>
      <p:pic>
        <p:nvPicPr>
          <p:cNvPr id="16" name="Image 2" descr="/home/claud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16" y="453999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26280" y="50749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3.590 citra dari Roboflow &amp; Kaggle.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046720" y="42519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DCE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75320" y="4480560"/>
            <a:ext cx="457200" cy="457200"/>
          </a:xfrm>
          <a:prstGeom prst="ellipse">
            <a:avLst/>
          </a:prstGeom>
          <a:solidFill>
            <a:srgbClr val="3F7D5C"/>
          </a:solidFill>
          <a:ln/>
        </p:spPr>
      </p:sp>
      <p:pic>
        <p:nvPicPr>
          <p:cNvPr id="20" name="Image 3" descr="/home/claude/icons/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756" y="4539996"/>
            <a:ext cx="338328" cy="3383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75320" y="50749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dibangun murni Python (Tkinter), input dari kamera web HD.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Computer Vision untuk Sortasi Mutu Bawang Merah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· LANDASAN TEORI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Pendekatan Computer Vision yang Dibandingkan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2A1733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6" name="Image 0" descr="/home/claude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947" y="208894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2996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Convolutional Neural Network (CNN)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7889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Mempelajari fitur RGB spasial (warna, tekstur, bentuk) secara mandiri lewat lapisan konvolusi — tanpa rekayasa fitur manual.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lapisan Conv2D + MaxPooling, Flatten, Dense, Dropout, dan output Sigmoid biner.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4434840"/>
            <a:ext cx="4754880" cy="0"/>
          </a:xfrm>
          <a:prstGeom prst="line">
            <a:avLst/>
          </a:prstGeom>
          <a:noFill/>
          <a:ln w="12700">
            <a:solidFill>
              <a:srgbClr val="5A3F6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6177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Mengolah citra RGB langsung — mempertahankan informasi kromatik penanda pembusukan.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173736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E9F3EC"/>
          </a:solidFill>
          <a:ln/>
        </p:spPr>
      </p:sp>
      <p:sp>
        <p:nvSpPr>
          <p:cNvPr id="12" name="Shape 9"/>
          <p:cNvSpPr/>
          <p:nvPr/>
        </p:nvSpPr>
        <p:spPr>
          <a:xfrm>
            <a:off x="6537960" y="2011680"/>
            <a:ext cx="594360" cy="594360"/>
          </a:xfrm>
          <a:prstGeom prst="ellipse">
            <a:avLst/>
          </a:prstGeom>
          <a:solidFill>
            <a:srgbClr val="3F7D5C"/>
          </a:solidFill>
          <a:ln/>
        </p:spPr>
      </p:sp>
      <p:pic>
        <p:nvPicPr>
          <p:cNvPr id="13" name="Image 1" descr="/home/claude/icons/thlar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227" y="2088947"/>
            <a:ext cx="439826" cy="43982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202996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GLCM + Support Vector Machine (SVM)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37960" y="27889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Level Co-occurrence Matrix mengekstrak fitur tekstur statistik: Contrast, Correlation, Energy, Homogeneity.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4 dimensi diumpankan ke SVM kernel Linear (class_weight='balanced') untuk pemisahan hyperplane biner.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537960" y="4434840"/>
            <a:ext cx="4754880" cy="0"/>
          </a:xfrm>
          <a:prstGeom prst="line">
            <a:avLst/>
          </a:prstGeom>
          <a:noFill/>
          <a:ln w="12700">
            <a:solidFill>
              <a:srgbClr val="C9DED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37960" y="46177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F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Citra dikonversi ke grayscale — berisiko kehilangan informasi warna krusial.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Computer Vision untuk Sortasi Mutu Bawang Merah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· METODOLOGI PENELITIAN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Kerangka Kerja CRISP-DM (6 Fase)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709928" cy="3566160"/>
          </a:xfrm>
          <a:prstGeom prst="roundRect">
            <a:avLst>
              <a:gd name="adj" fmla="val 4278"/>
            </a:avLst>
          </a:prstGeom>
          <a:solidFill>
            <a:srgbClr val="3B2145"/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" y="22402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22402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1527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3931920"/>
            <a:ext cx="14356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 masalah &amp; hipotesis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77440" y="1965960"/>
            <a:ext cx="1709928" cy="3566160"/>
          </a:xfrm>
          <a:prstGeom prst="roundRect">
            <a:avLst>
              <a:gd name="adj" fmla="val 4278"/>
            </a:avLst>
          </a:prstGeom>
          <a:solidFill>
            <a:srgbClr val="3F7D5C"/>
          </a:solidFill>
          <a:ln/>
        </p:spPr>
      </p:sp>
      <p:sp>
        <p:nvSpPr>
          <p:cNvPr id="10" name="Shape 8"/>
          <p:cNvSpPr/>
          <p:nvPr/>
        </p:nvSpPr>
        <p:spPr>
          <a:xfrm>
            <a:off x="2939796" y="22402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939796" y="22402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68880" y="3017520"/>
            <a:ext cx="1527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14600" y="3931920"/>
            <a:ext cx="14356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Telusur sumber &amp; kualitas dataset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06240" y="1965960"/>
            <a:ext cx="1709928" cy="3566160"/>
          </a:xfrm>
          <a:prstGeom prst="roundRect">
            <a:avLst>
              <a:gd name="adj" fmla="val 4278"/>
            </a:avLst>
          </a:prstGeom>
          <a:solidFill>
            <a:srgbClr val="3B2145"/>
          </a:solidFill>
          <a:ln/>
        </p:spPr>
      </p:sp>
      <p:sp>
        <p:nvSpPr>
          <p:cNvPr id="15" name="Shape 13"/>
          <p:cNvSpPr/>
          <p:nvPr/>
        </p:nvSpPr>
        <p:spPr>
          <a:xfrm>
            <a:off x="4768596" y="22402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768596" y="22402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297680" y="3017520"/>
            <a:ext cx="1527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43400" y="3931920"/>
            <a:ext cx="14356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split, resize, CLAHE, augmentasi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1965960"/>
            <a:ext cx="1709928" cy="3566160"/>
          </a:xfrm>
          <a:prstGeom prst="roundRect">
            <a:avLst>
              <a:gd name="adj" fmla="val 4278"/>
            </a:avLst>
          </a:prstGeom>
          <a:solidFill>
            <a:srgbClr val="3F7D5C"/>
          </a:solidFill>
          <a:ln/>
        </p:spPr>
      </p:sp>
      <p:sp>
        <p:nvSpPr>
          <p:cNvPr id="20" name="Shape 18"/>
          <p:cNvSpPr/>
          <p:nvPr/>
        </p:nvSpPr>
        <p:spPr>
          <a:xfrm>
            <a:off x="6597396" y="22402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97396" y="22402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126480" y="3017520"/>
            <a:ext cx="1527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72200" y="3931920"/>
            <a:ext cx="14356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Dual-pipeline: CNN &amp; GLCM+SVM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863840" y="1965960"/>
            <a:ext cx="1709928" cy="3566160"/>
          </a:xfrm>
          <a:prstGeom prst="roundRect">
            <a:avLst>
              <a:gd name="adj" fmla="val 4278"/>
            </a:avLst>
          </a:prstGeom>
          <a:solidFill>
            <a:srgbClr val="3B2145"/>
          </a:solidFill>
          <a:ln/>
        </p:spPr>
      </p:sp>
      <p:sp>
        <p:nvSpPr>
          <p:cNvPr id="25" name="Shape 23"/>
          <p:cNvSpPr/>
          <p:nvPr/>
        </p:nvSpPr>
        <p:spPr>
          <a:xfrm>
            <a:off x="8426196" y="22402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426196" y="22402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955280" y="3017520"/>
            <a:ext cx="1527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001000" y="3931920"/>
            <a:ext cx="14356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stress test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692640" y="1965960"/>
            <a:ext cx="1709928" cy="3566160"/>
          </a:xfrm>
          <a:prstGeom prst="roundRect">
            <a:avLst>
              <a:gd name="adj" fmla="val 4278"/>
            </a:avLst>
          </a:prstGeom>
          <a:solidFill>
            <a:srgbClr val="3F7D5C"/>
          </a:solidFill>
          <a:ln/>
        </p:spPr>
      </p:sp>
      <p:sp>
        <p:nvSpPr>
          <p:cNvPr id="30" name="Shape 28"/>
          <p:cNvSpPr/>
          <p:nvPr/>
        </p:nvSpPr>
        <p:spPr>
          <a:xfrm>
            <a:off x="10254996" y="22402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254996" y="22402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784080" y="3017520"/>
            <a:ext cx="1527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829800" y="3931920"/>
            <a:ext cx="14356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desktop Tkinter real-time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berpasangan (paired design): kedua model diuji pada test set identik yang belum pernah dilihat saat pelatihan, memastikan selisih kinerja murni berasal dari skema pemodelan.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Computer Vision untuk Sortasi Mutu Bawang Merah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· METODOLOGI PENELITIAN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Penelitian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434840"/>
          </a:xfrm>
          <a:prstGeom prst="roundRect">
            <a:avLst>
              <a:gd name="adj" fmla="val 2703"/>
            </a:avLst>
          </a:prstGeom>
          <a:solidFill>
            <a:srgbClr val="2A173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6" name="Image 0" descr="/home/claude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" y="208300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7889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3.590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77240" y="3657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Citra RGB (setelah augmentasi)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4434840"/>
            <a:ext cx="2743200" cy="0"/>
          </a:xfrm>
          <a:prstGeom prst="line">
            <a:avLst/>
          </a:prstGeom>
          <a:noFill/>
          <a:ln w="12700">
            <a:solidFill>
              <a:srgbClr val="5A3F6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6177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Roboflow Universe &amp; Kaggle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E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Resolusi: diresize ke 224×224 px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.JPG / .JPEG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60520" y="1737360"/>
            <a:ext cx="7452360" cy="1234440"/>
          </a:xfrm>
          <a:prstGeom prst="roundRect">
            <a:avLst>
              <a:gd name="adj" fmla="val 5926"/>
            </a:avLst>
          </a:prstGeom>
          <a:solidFill>
            <a:srgbClr val="E9F3EC"/>
          </a:solidFill>
          <a:ln/>
        </p:spPr>
      </p:sp>
      <p:sp>
        <p:nvSpPr>
          <p:cNvPr id="12" name="Shape 9"/>
          <p:cNvSpPr/>
          <p:nvPr/>
        </p:nvSpPr>
        <p:spPr>
          <a:xfrm>
            <a:off x="4343400" y="1920240"/>
            <a:ext cx="502920" cy="502920"/>
          </a:xfrm>
          <a:prstGeom prst="ellipse">
            <a:avLst/>
          </a:prstGeom>
          <a:solidFill>
            <a:srgbClr val="3F7D5C"/>
          </a:solidFill>
          <a:ln/>
        </p:spPr>
      </p:sp>
      <p:pic>
        <p:nvPicPr>
          <p:cNvPr id="13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780" y="1985620"/>
            <a:ext cx="372161" cy="3721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29200" y="186537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Layak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029200" y="22402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Gabungan Mutu I &amp; Mutu II — bebas penyakit, pigmentasi merata.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160520" y="3154680"/>
            <a:ext cx="7452360" cy="1234440"/>
          </a:xfrm>
          <a:prstGeom prst="roundRect">
            <a:avLst>
              <a:gd name="adj" fmla="val 5926"/>
            </a:avLst>
          </a:prstGeom>
          <a:solidFill>
            <a:srgbClr val="FBEAE7"/>
          </a:solidFill>
          <a:ln/>
        </p:spPr>
      </p:sp>
      <p:sp>
        <p:nvSpPr>
          <p:cNvPr id="17" name="Shape 13"/>
          <p:cNvSpPr/>
          <p:nvPr/>
        </p:nvSpPr>
        <p:spPr>
          <a:xfrm>
            <a:off x="4343400" y="3337560"/>
            <a:ext cx="502920" cy="502920"/>
          </a:xfrm>
          <a:prstGeom prst="ellipse">
            <a:avLst/>
          </a:prstGeom>
          <a:solidFill>
            <a:srgbClr val="A33A2C"/>
          </a:solidFill>
          <a:ln/>
        </p:spPr>
      </p:sp>
      <p:pic>
        <p:nvPicPr>
          <p:cNvPr id="18" name="Image 2" descr="/home/claude/icons/seedl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780" y="3402940"/>
            <a:ext cx="372161" cy="3721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29200" y="32826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Tidak Layak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029200" y="36576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Busuk / cacat fisik — kerusakan struktural &amp; pigmentasi patologis.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160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PENYIAPAN DATA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160520" y="5074920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F3E9D9"/>
          </a:solidFill>
          <a:ln/>
        </p:spPr>
      </p:sp>
      <p:sp>
        <p:nvSpPr>
          <p:cNvPr id="23" name="Text 18"/>
          <p:cNvSpPr/>
          <p:nvPr/>
        </p:nvSpPr>
        <p:spPr>
          <a:xfrm>
            <a:off x="4233672" y="5166360"/>
            <a:ext cx="1591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Mentah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879592" y="5394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6035040" y="5074920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F3E9D9"/>
          </a:solidFill>
          <a:ln/>
        </p:spPr>
      </p:sp>
      <p:sp>
        <p:nvSpPr>
          <p:cNvPr id="26" name="Text 21"/>
          <p:cNvSpPr/>
          <p:nvPr/>
        </p:nvSpPr>
        <p:spPr>
          <a:xfrm>
            <a:off x="6108192" y="5166360"/>
            <a:ext cx="1591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Bersih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(filter &amp; label)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7754112" y="5394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7909560" y="5074920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F3E9D9"/>
          </a:solidFill>
          <a:ln/>
        </p:spPr>
      </p:sp>
      <p:sp>
        <p:nvSpPr>
          <p:cNvPr id="29" name="Text 24"/>
          <p:cNvSpPr/>
          <p:nvPr/>
        </p:nvSpPr>
        <p:spPr>
          <a:xfrm>
            <a:off x="7982712" y="5166360"/>
            <a:ext cx="1591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Augmentasi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(rotasi, noise)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9628632" y="5394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9784080" y="5074920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F3E9D9"/>
          </a:solidFill>
          <a:ln/>
        </p:spPr>
      </p:sp>
      <p:sp>
        <p:nvSpPr>
          <p:cNvPr id="32" name="Text 27"/>
          <p:cNvSpPr/>
          <p:nvPr/>
        </p:nvSpPr>
        <p:spPr>
          <a:xfrm>
            <a:off x="9857232" y="5166360"/>
            <a:ext cx="1591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Computer Vision untuk Sortasi Mutu Bawang Merah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· METODOLOGI PENELITIAN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Desain Eksperimen Dual-Pipeline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KIRI — CNN Sequential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3B2145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2176272"/>
            <a:ext cx="162763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224²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95728" y="2103120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3B2145"/>
          </a:solidFill>
          <a:ln/>
        </p:spPr>
      </p:sp>
      <p:sp>
        <p:nvSpPr>
          <p:cNvPr id="8" name="Text 6"/>
          <p:cNvSpPr/>
          <p:nvPr/>
        </p:nvSpPr>
        <p:spPr>
          <a:xfrm>
            <a:off x="2450592" y="2176272"/>
            <a:ext cx="162763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32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MaxPool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42816" y="2103120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3B2145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2176272"/>
            <a:ext cx="162763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64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MaxPool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9904" y="2103120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3B2145"/>
          </a:solidFill>
          <a:ln/>
        </p:spPr>
      </p:sp>
      <p:sp>
        <p:nvSpPr>
          <p:cNvPr id="12" name="Text 10"/>
          <p:cNvSpPr/>
          <p:nvPr/>
        </p:nvSpPr>
        <p:spPr>
          <a:xfrm>
            <a:off x="6144768" y="2176272"/>
            <a:ext cx="162763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+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64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36992" y="2103120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3B2145"/>
          </a:solidFill>
          <a:ln/>
        </p:spPr>
      </p:sp>
      <p:sp>
        <p:nvSpPr>
          <p:cNvPr id="14" name="Text 12"/>
          <p:cNvSpPr/>
          <p:nvPr/>
        </p:nvSpPr>
        <p:spPr>
          <a:xfrm>
            <a:off x="7991856" y="2176272"/>
            <a:ext cx="162763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784080" y="2103120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3B2145"/>
          </a:solidFill>
          <a:ln/>
        </p:spPr>
      </p:sp>
      <p:sp>
        <p:nvSpPr>
          <p:cNvPr id="16" name="Text 14"/>
          <p:cNvSpPr/>
          <p:nvPr/>
        </p:nvSpPr>
        <p:spPr>
          <a:xfrm>
            <a:off x="9838944" y="2176272"/>
            <a:ext cx="162763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KANAN — GLCM + SVM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3F7D5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" y="3913632"/>
            <a:ext cx="162763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+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95728" y="3840480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3F7D5C"/>
          </a:solidFill>
          <a:ln/>
        </p:spPr>
      </p:sp>
      <p:sp>
        <p:nvSpPr>
          <p:cNvPr id="21" name="Text 19"/>
          <p:cNvSpPr/>
          <p:nvPr/>
        </p:nvSpPr>
        <p:spPr>
          <a:xfrm>
            <a:off x="2450592" y="3913632"/>
            <a:ext cx="162763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GLCM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(d=1, θ=0°)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42816" y="3840480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3F7D5C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0" y="3913632"/>
            <a:ext cx="162763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Fitur: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dll.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9904" y="3840480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3F7D5C"/>
          </a:solidFill>
          <a:ln/>
        </p:spPr>
      </p:sp>
      <p:sp>
        <p:nvSpPr>
          <p:cNvPr id="25" name="Text 23"/>
          <p:cNvSpPr/>
          <p:nvPr/>
        </p:nvSpPr>
        <p:spPr>
          <a:xfrm>
            <a:off x="6144768" y="3913632"/>
            <a:ext cx="162763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4-Dimensi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36992" y="3840480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3F7D5C"/>
          </a:solidFill>
          <a:ln/>
        </p:spPr>
      </p:sp>
      <p:sp>
        <p:nvSpPr>
          <p:cNvPr id="27" name="Text 25"/>
          <p:cNvSpPr/>
          <p:nvPr/>
        </p:nvSpPr>
        <p:spPr>
          <a:xfrm>
            <a:off x="7991856" y="3913632"/>
            <a:ext cx="162763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Linear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(balanced)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784080" y="3840480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3F7D5C"/>
          </a:solidFill>
          <a:ln/>
        </p:spPr>
      </p:sp>
      <p:sp>
        <p:nvSpPr>
          <p:cNvPr id="29" name="Text 27"/>
          <p:cNvSpPr/>
          <p:nvPr/>
        </p:nvSpPr>
        <p:spPr>
          <a:xfrm>
            <a:off x="9838944" y="3913632"/>
            <a:ext cx="162763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Hyperplane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3E9D9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5330952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32" name="Image 0" descr="/home/claude/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5390388"/>
            <a:ext cx="338328" cy="33832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371600" y="528523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4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 pipeline dilatih &amp; diuji pada dataset, komposisi, dan preprocessing yang identik — selisih kinerja murni merepresentasikan perbedaan kemampuan representasi fitur.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Computer Vision untuk Sortasi Mutu Bawang Merah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· HASIL DAN PEMBAHASAN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Pelatihan Model CNN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5836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9164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E9F3EC"/>
          </a:solidFill>
          <a:ln/>
        </p:spPr>
      </p:sp>
      <p:sp>
        <p:nvSpPr>
          <p:cNvPr id="6" name="Shape 3"/>
          <p:cNvSpPr/>
          <p:nvPr/>
        </p:nvSpPr>
        <p:spPr>
          <a:xfrm>
            <a:off x="7589520" y="1856232"/>
            <a:ext cx="658368" cy="658368"/>
          </a:xfrm>
          <a:prstGeom prst="ellipse">
            <a:avLst/>
          </a:prstGeom>
          <a:solidFill>
            <a:srgbClr val="3B2145"/>
          </a:solidFill>
          <a:ln/>
        </p:spPr>
      </p:sp>
      <p:pic>
        <p:nvPicPr>
          <p:cNvPr id="7" name="Image 0" descr="/home/claude/icons/trop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108" y="1941820"/>
            <a:ext cx="487192" cy="4871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0" y="176479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92,05%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412480" y="22585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Global CNN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406640" y="2862072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E9F3EC"/>
          </a:solidFill>
          <a:ln/>
        </p:spPr>
      </p:sp>
      <p:sp>
        <p:nvSpPr>
          <p:cNvPr id="11" name="Shape 7"/>
          <p:cNvSpPr/>
          <p:nvPr/>
        </p:nvSpPr>
        <p:spPr>
          <a:xfrm>
            <a:off x="7589520" y="3026664"/>
            <a:ext cx="658368" cy="658368"/>
          </a:xfrm>
          <a:prstGeom prst="ellipse">
            <a:avLst/>
          </a:prstGeom>
          <a:solidFill>
            <a:srgbClr val="3F7D5C"/>
          </a:solidFill>
          <a:ln/>
        </p:spPr>
      </p:sp>
      <p:pic>
        <p:nvPicPr>
          <p:cNvPr id="12" name="Image 1" descr="/home/claude/icons/microsco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108" y="3112252"/>
            <a:ext cx="487192" cy="4871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12480" y="293522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151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8412480" y="3429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Prediksi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7406640" y="4032504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E9F3EC"/>
          </a:solidFill>
          <a:ln/>
        </p:spPr>
      </p:sp>
      <p:sp>
        <p:nvSpPr>
          <p:cNvPr id="16" name="Shape 11"/>
          <p:cNvSpPr/>
          <p:nvPr/>
        </p:nvSpPr>
        <p:spPr>
          <a:xfrm>
            <a:off x="7589520" y="4197096"/>
            <a:ext cx="658368" cy="658368"/>
          </a:xfrm>
          <a:prstGeom prst="ellipse">
            <a:avLst/>
          </a:prstGeom>
          <a:solidFill>
            <a:srgbClr val="8A6420"/>
          </a:solidFill>
          <a:ln/>
        </p:spPr>
      </p:sp>
      <p:pic>
        <p:nvPicPr>
          <p:cNvPr id="17" name="Image 2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5108" y="4282684"/>
            <a:ext cx="487192" cy="4871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12480" y="410565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6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&gt;91%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8412480" y="45994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Kedua Kelas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548640" y="5257800"/>
            <a:ext cx="6583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mengaktivasi penghentian iterasi tepat ketika model berhenti mengalami kemajuan generalisasi — tanpa gejala overfitting ekstrem.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Computer Vision untuk Sortasi Mutu Bawang Merah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· HASIL DAN PEMBAHASAN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Perbandingan Performa: CNN vs GLCM+SVM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6751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691640"/>
            <a:ext cx="4160520" cy="2103120"/>
          </a:xfrm>
          <a:prstGeom prst="roundRect">
            <a:avLst>
              <a:gd name="adj" fmla="val 3913"/>
            </a:avLst>
          </a:prstGeom>
          <a:solidFill>
            <a:srgbClr val="2A1733"/>
          </a:solidFill>
          <a:ln/>
        </p:spPr>
      </p:sp>
      <p:sp>
        <p:nvSpPr>
          <p:cNvPr id="6" name="Text 3"/>
          <p:cNvSpPr/>
          <p:nvPr/>
        </p:nvSpPr>
        <p:spPr>
          <a:xfrm>
            <a:off x="7452360" y="182880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92,05%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680960" y="2697480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CNN — sekitar 37,75 poin lebih tinggi dari GLCM+SVM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452360" y="3977640"/>
            <a:ext cx="416052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4DCE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80960" y="4187952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0" name="Image 0" descr="/home/claude/icons/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6340" y="4253332"/>
            <a:ext cx="372161" cy="3721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21040" y="4160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GLCM+SVM Kalah?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680960" y="4709160"/>
            <a:ext cx="3703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Konversi grayscale menghilangkan data kromatik RGB — penanda utama pembusukan — sehingga SVM salah menafsirkan bayangan sebagai noda gelap (69 kesalahan klasifikasi).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Computer Vision untuk Sortasi Mutu Bawang Merah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· HASIL DAN PEMBAHASAN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Aplikasi Desktop (Tkinter)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4434840"/>
          </a:xfrm>
          <a:prstGeom prst="roundRect">
            <a:avLst>
              <a:gd name="adj" fmla="val 2062"/>
            </a:avLst>
          </a:prstGeom>
          <a:solidFill>
            <a:srgbClr val="2A1733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6" name="Image 0" descr="/home/claude/icons/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947" y="208894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848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Purwarupa GUI Real-Time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526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CNN terbaik diekspor &amp; diintegrasikan ke antarmuka desktop Tkinter.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E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memilih folder citra bawang merah untuk dipindai secara batch.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citra diberi label ✅ LAYAK atau ❌ TIDAK LAYAK berdasarkan probabilitas Sigmoid.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4937760"/>
            <a:ext cx="4526280" cy="0"/>
          </a:xfrm>
          <a:prstGeom prst="line">
            <a:avLst/>
          </a:prstGeom>
          <a:noFill/>
          <a:ln w="12700">
            <a:solidFill>
              <a:srgbClr val="5A3F6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512064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1" name="Image 1" descr="/home/claude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" y="518007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507492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ms</a:t>
            </a:r>
            <a:endParaRPr lang="en-US" sz="2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kecepatan inferensi per frame — layak untuk sabuk konveyor sortir modern.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5989320" y="1737360"/>
            <a:ext cx="5669280" cy="2148840"/>
          </a:xfrm>
          <a:prstGeom prst="roundRect">
            <a:avLst>
              <a:gd name="adj" fmla="val 4255"/>
            </a:avLst>
          </a:prstGeom>
          <a:solidFill>
            <a:srgbClr val="E9F3EC"/>
          </a:solidFill>
          <a:ln/>
        </p:spPr>
      </p:sp>
      <p:sp>
        <p:nvSpPr>
          <p:cNvPr id="14" name="Shape 10"/>
          <p:cNvSpPr/>
          <p:nvPr/>
        </p:nvSpPr>
        <p:spPr>
          <a:xfrm>
            <a:off x="6263640" y="1993392"/>
            <a:ext cx="594360" cy="594360"/>
          </a:xfrm>
          <a:prstGeom prst="ellipse">
            <a:avLst/>
          </a:prstGeom>
          <a:solidFill>
            <a:srgbClr val="3F7D5C"/>
          </a:solidFill>
          <a:ln/>
        </p:spPr>
      </p:sp>
      <p:pic>
        <p:nvPicPr>
          <p:cNvPr id="15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907" y="2070659"/>
            <a:ext cx="439826" cy="43982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86600" y="20116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Hasil: LAYAK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263640" y="27432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merespons dalam hitungan milidetik, label Layak ter-render akurat dengan tingkat kepercayaan tinggi.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989320" y="4069080"/>
            <a:ext cx="5669280" cy="2148840"/>
          </a:xfrm>
          <a:prstGeom prst="roundRect">
            <a:avLst>
              <a:gd name="adj" fmla="val 4255"/>
            </a:avLst>
          </a:prstGeom>
          <a:solidFill>
            <a:srgbClr val="FBEAE7"/>
          </a:solidFill>
          <a:ln/>
        </p:spPr>
      </p:sp>
      <p:sp>
        <p:nvSpPr>
          <p:cNvPr id="19" name="Shape 14"/>
          <p:cNvSpPr/>
          <p:nvPr/>
        </p:nvSpPr>
        <p:spPr>
          <a:xfrm>
            <a:off x="6263640" y="4325112"/>
            <a:ext cx="594360" cy="594360"/>
          </a:xfrm>
          <a:prstGeom prst="ellipse">
            <a:avLst/>
          </a:prstGeom>
          <a:solidFill>
            <a:srgbClr val="A33A2C"/>
          </a:solidFill>
          <a:ln/>
        </p:spPr>
      </p:sp>
      <p:pic>
        <p:nvPicPr>
          <p:cNvPr id="20" name="Image 3" descr="/home/claude/icons/came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907" y="4402379"/>
            <a:ext cx="439826" cy="43982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86600" y="43434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Hasil: TIDAK LAYAK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263640" y="50749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degradasi fisik &amp; bercak kapang teridentifikasi, sistem memberi peringatan Tidak Layak secara instan.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Computer Vision untuk Sortasi Mutu Bawang Merah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572000" cy="4572000"/>
          </a:xfrm>
          <a:prstGeom prst="ellipse">
            <a:avLst/>
          </a:prstGeom>
          <a:solidFill>
            <a:srgbClr val="3B21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V · PENUTUP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 &amp; Saran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828800"/>
            <a:ext cx="5577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Penggabungan Mutu I &amp; II menjadi kelas biner “Layak” memfasilitasi Computer Vision &amp; mencegah bias data (3.590 citra seimbang).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880360"/>
            <a:ext cx="5577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terbukti: CNN unggul dengan akurasi 92,05% (F1-Score &gt;91%, 12 kesalahan) vs GLCM+SVM 54,30% (69 kesalahan) akibat hilangnya data kromatik.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931920"/>
            <a:ext cx="5577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CNN berhasil diimplementasikan ke aplikasi desktop Tkinter dengan latensi real-time ≈45 ms per frame.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223760" y="1508760"/>
            <a:ext cx="4389120" cy="4572000"/>
          </a:xfrm>
          <a:prstGeom prst="roundRect">
            <a:avLst>
              <a:gd name="adj" fmla="val 2083"/>
            </a:avLst>
          </a:prstGeom>
          <a:solidFill>
            <a:srgbClr val="2F1B3D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0" y="1783080"/>
            <a:ext cx="548640" cy="548640"/>
          </a:xfrm>
          <a:prstGeom prst="ellipse">
            <a:avLst/>
          </a:prstGeom>
          <a:solidFill>
            <a:srgbClr val="3F7D5C"/>
          </a:solidFill>
          <a:ln/>
        </p:spPr>
      </p:sp>
      <p:pic>
        <p:nvPicPr>
          <p:cNvPr id="17" name="Image 0" descr="/home/claude/icons/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9403" y="1854403"/>
            <a:ext cx="405994" cy="40599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22960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D6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SARAN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498080" y="242316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struktur bobot CNN ke mikrokomputer IoT genggam seperti Raspberry Pi 5 dengan Edge TPU, guna mewujudkan mesin sortir optis portabel tanpa memerlukan daya PC besar — aplikatif di gudang pengepul jauh dari pusat kota.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498080" y="4800600"/>
            <a:ext cx="3840480" cy="0"/>
          </a:xfrm>
          <a:prstGeom prst="line">
            <a:avLst/>
          </a:prstGeom>
          <a:noFill/>
          <a:ln w="12700">
            <a:solidFill>
              <a:srgbClr val="4A34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0" y="5029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498080" y="5486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Euaggelion Seran — NIM 15220572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2026-08-04T09:52:45Z</dcterms:created>
  <dcterms:modified xsi:type="dcterms:W3CDTF">2026-08-04T09:52:45Z</dcterms:modified>
</cp:coreProperties>
</file>